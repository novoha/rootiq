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novoha/rootiq" TargetMode="External"/><Relationship Id="rId3" Type="http://schemas.openxmlformats.org/officeDocument/2006/relationships/hyperlink" Target="https://rootiq.streamlit.app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novoha/rootiq" TargetMode="External"/><Relationship Id="rId3" Type="http://schemas.openxmlformats.org/officeDocument/2006/relationships/hyperlink" Target="https://rootiq.streamlit.app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novoha/rootiq" TargetMode="External"/><Relationship Id="rId3" Type="http://schemas.openxmlformats.org/officeDocument/2006/relationships/hyperlink" Target="https://rootiq.streamlit.app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EEAD4"/>
                </a:solidFill>
                <a:latin typeface="Segoe UI"/>
              </a:rPr>
              <a:t>INDUSTRIAL AI,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Segoe UI"/>
              </a:rPr>
              <a:t>Root</a:t>
            </a:r>
            <a:r>
              <a:rPr sz="6600" b="1">
                <a:solidFill>
                  <a:srgbClr val="5EEAD4"/>
                </a:solidFill>
                <a:latin typeface="Segoe UI"/>
              </a:rPr>
              <a:t>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6324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2E8F0"/>
                </a:solidFill>
                <a:latin typeface="Segoe UI"/>
              </a:rPr>
              <a:t>PLC Error Intelligence, a secure agent harness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9875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RootIQ reads a controller fault log, reuses past fixes, mines the IQAN community forum, and synthesises a cited solution. Every action is screened by a security interlock before it runs.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892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Victor Otu Hayford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39496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Segoe UI"/>
              </a:rPr>
              <a:t>GitHub  </a:t>
            </a:r>
            <a:r>
              <a:rPr sz="1500" b="1">
                <a:solidFill>
                  <a:srgbClr val="5EEAD4"/>
                </a:solidFill>
                <a:latin typeface="Segoe UI"/>
                <a:hlinkClick r:id="rId2"/>
              </a:rPr>
              <a:t>github.com/novoha/rootiq</a:t>
            </a:r>
            <a:r>
              <a:rPr sz="1500" b="1">
                <a:solidFill>
                  <a:srgbClr val="FFFFFF"/>
                </a:solidFill>
                <a:latin typeface="Segoe UI"/>
              </a:rPr>
              <a:t>      Live app  </a:t>
            </a:r>
            <a:r>
              <a:rPr sz="1500" b="1">
                <a:solidFill>
                  <a:srgbClr val="5EEAD4"/>
                </a:solidFill>
                <a:latin typeface="Segoe UI"/>
                <a:hlinkClick r:id="rId3"/>
              </a:rPr>
              <a:t>rootiq.streamlit.app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THE PROBLEM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1B2A"/>
                </a:solidFill>
                <a:latin typeface="Segoe UI"/>
              </a:rPr>
              <a:t>A cryptic fault, and the fix is buried in a forum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2057400"/>
            <a:ext cx="5212080" cy="210312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286000"/>
            <a:ext cx="47548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# IQAN controller system log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XC44 ; </a:t>
            </a:r>
            <a:r>
              <a:rPr sz="1400" b="1">
                <a:solidFill>
                  <a:srgbClr val="FBBF24"/>
                </a:solidFill>
                <a:latin typeface="Segoe UI"/>
              </a:rPr>
              <a:t>No contact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COUT-Suction hose 1 ; </a:t>
            </a:r>
            <a:r>
              <a:rPr sz="1400" b="1">
                <a:solidFill>
                  <a:srgbClr val="FBBF24"/>
                </a:solidFill>
                <a:latin typeface="Segoe UI"/>
              </a:rPr>
              <a:t>Open load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VIN-Joystick (C1:26) ; </a:t>
            </a:r>
            <a:r>
              <a:rPr sz="1400" b="1">
                <a:solidFill>
                  <a:srgbClr val="FBBF24"/>
                </a:solidFill>
                <a:latin typeface="Segoe UI"/>
              </a:rPr>
              <a:t>Low error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2E8F0"/>
                </a:solidFill>
                <a:latin typeface="Segoe UI"/>
              </a:rPr>
              <a:t>MC43FS[0] ; </a:t>
            </a:r>
            <a:r>
              <a:rPr sz="1400" b="1">
                <a:solidFill>
                  <a:srgbClr val="FBBF24"/>
                </a:solidFill>
                <a:latin typeface="Segoe UI"/>
              </a:rPr>
              <a:t>No 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2148840"/>
            <a:ext cx="5120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D9488"/>
                </a:solidFill>
                <a:latin typeface="Segoe UI"/>
              </a:rPr>
              <a:t>▪  </a:t>
            </a:r>
            <a:r>
              <a:rPr sz="1600">
                <a:solidFill>
                  <a:srgbClr val="1F2937"/>
                </a:solidFill>
                <a:latin typeface="Segoe UI"/>
              </a:rPr>
              <a:t>The answer lives across forum threads and comments, slow to find by hand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D9488"/>
                </a:solidFill>
                <a:latin typeface="Segoe UI"/>
              </a:rPr>
              <a:t>▪  </a:t>
            </a:r>
            <a:r>
              <a:rPr sz="1600">
                <a:solidFill>
                  <a:srgbClr val="1F2937"/>
                </a:solidFill>
                <a:latin typeface="Segoe UI"/>
              </a:rPr>
              <a:t>The same faults recur, yet nothing is captured or reused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D9488"/>
                </a:solidFill>
                <a:latin typeface="Segoe UI"/>
              </a:rPr>
              <a:t>▪  </a:t>
            </a:r>
            <a:r>
              <a:rPr sz="1600">
                <a:solidFill>
                  <a:srgbClr val="1F2937"/>
                </a:solidFill>
                <a:latin typeface="Segoe UI"/>
              </a:rPr>
              <a:t>Sensitive sites need it offline, with no cloud and no API key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663440"/>
            <a:ext cx="10817352" cy="822960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4663440"/>
            <a:ext cx="64008" cy="82296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864608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RootIQ turns that moment into a guided, cited fix, and remembers it for next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27648"/>
            <a:ext cx="1081735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0080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RootIQ, </a:t>
            </a:r>
            <a:r>
              <a:rPr sz="1000" b="1">
                <a:solidFill>
                  <a:srgbClr val="0D9488"/>
                </a:solidFill>
                <a:latin typeface="Segoe UI"/>
              </a:rPr>
              <a:t>PLC Error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400800"/>
            <a:ext cx="4187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rootiq.streamlit.app    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WHAT ROOTIQ 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1B2A"/>
                </a:solidFill>
                <a:latin typeface="Segoe UI"/>
              </a:rPr>
              <a:t>A reusable, secure agent harness for fault diagnosis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874519"/>
            <a:ext cx="350215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2112263"/>
            <a:ext cx="299008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0D1B2A"/>
                </a:solidFill>
                <a:latin typeface="Segoe UI"/>
              </a:rPr>
              <a:t>Intake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Upload a PDF or image, type a code, or load a whole CSV export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2544" y="1874519"/>
            <a:ext cx="350215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08576" y="2112263"/>
            <a:ext cx="299008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0D1B2A"/>
                </a:solidFill>
                <a:latin typeface="Segoe UI"/>
              </a:rPr>
              <a:t>Reuse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Instant history cache hit, with no LLM and no 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9288" y="1874519"/>
            <a:ext cx="350215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19" y="2112263"/>
            <a:ext cx="299008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0D1B2A"/>
                </a:solidFill>
                <a:latin typeface="Segoe UI"/>
              </a:rPr>
              <a:t>Retrieve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Offline forum index, then scrape threads and comments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474720"/>
            <a:ext cx="350215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712463"/>
            <a:ext cx="299008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0D1B2A"/>
                </a:solidFill>
                <a:latin typeface="Segoe UI"/>
              </a:rPr>
              <a:t>Synthesise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The LLM reasons across sources into a cited JSON fix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3474720"/>
            <a:ext cx="350215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3712463"/>
            <a:ext cx="299008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0D1B2A"/>
                </a:solidFill>
                <a:latin typeface="Segoe UI"/>
              </a:rPr>
              <a:t>Remember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Auto-saved, then a knowledge map of related faults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9288" y="3474720"/>
            <a:ext cx="350215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3712463"/>
            <a:ext cx="299008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0D1B2A"/>
                </a:solidFill>
                <a:latin typeface="Segoe UI"/>
              </a:rPr>
              <a:t>Guard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security_check() screens every tool call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0749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9488"/>
                </a:solidFill>
                <a:latin typeface="Segoe UI"/>
              </a:rPr>
              <a:t>Offline, local Ollama       </a:t>
            </a:r>
            <a:r>
              <a:rPr sz="1500" b="1">
                <a:solidFill>
                  <a:srgbClr val="0D9488"/>
                </a:solidFill>
                <a:latin typeface="Segoe UI"/>
              </a:rPr>
              <a:t>Online, any OpenAI-compatible API       </a:t>
            </a:r>
            <a:r>
              <a:rPr sz="1500" b="1">
                <a:solidFill>
                  <a:srgbClr val="0D9488"/>
                </a:solidFill>
                <a:latin typeface="Segoe UI"/>
              </a:rPr>
              <a:t>One sidebar toggle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6327648"/>
            <a:ext cx="1081735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40080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RootIQ, </a:t>
            </a:r>
            <a:r>
              <a:rPr sz="1000" b="1">
                <a:solidFill>
                  <a:srgbClr val="0D9488"/>
                </a:solidFill>
                <a:latin typeface="Segoe UI"/>
              </a:rPr>
              <a:t>PLC Error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400800"/>
            <a:ext cx="4187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rootiq.streamlit.app    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WHY IT MATTERS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1B2A"/>
                </a:solidFill>
                <a:latin typeface="Segoe UI"/>
              </a:rPr>
              <a:t>A working bridge between PLC programming and software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965960"/>
            <a:ext cx="53035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94560"/>
            <a:ext cx="4800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D1B2A"/>
                </a:solidFill>
                <a:latin typeface="Segoe UI"/>
              </a:rPr>
              <a:t>Known faults resolve instantly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The history cache turns a recurring fault into a zero-effort answer, with no LLM and no network. The same faults come back, and now they are solved on sight. This saves the most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965960"/>
            <a:ext cx="53035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3952" y="2194560"/>
            <a:ext cx="4800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0D1B2A"/>
                </a:solidFill>
                <a:latin typeface="Segoe UI"/>
              </a:rPr>
              <a:t>New faults are reasoned and searched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Unseen faults are searched against the forum index, scraped with their community comments, and reasoned into a cited fix. Then they are remembered, so next time they are known too.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617720"/>
            <a:ext cx="10817352" cy="868680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4617720"/>
            <a:ext cx="64008" cy="8686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800600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The knowledge compounds. Every diagnosis grows the cache and the map, so the tool gets faster and more useful the more it runs.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6327648"/>
            <a:ext cx="1081735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0080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RootIQ, </a:t>
            </a:r>
            <a:r>
              <a:rPr sz="1000" b="1">
                <a:solidFill>
                  <a:srgbClr val="0D9488"/>
                </a:solidFill>
                <a:latin typeface="Segoe UI"/>
              </a:rPr>
              <a:t>PLC Error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6400800"/>
            <a:ext cx="4187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rootiq.streamlit.app    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HOW IT WORKS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1B2A"/>
                </a:solidFill>
                <a:latin typeface="Segoe UI"/>
              </a:rPr>
              <a:t>An orchestrated pipeline. The harness routes; the LLM only synthesises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2148840"/>
            <a:ext cx="162763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4447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D1B2A"/>
                </a:solidFill>
                <a:latin typeface="Segoe UI"/>
              </a:rPr>
              <a:t>Intake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upload, type, 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22576" y="2468880"/>
            <a:ext cx="20116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D9488"/>
                </a:solidFill>
                <a:latin typeface="Segoe UI"/>
              </a:rPr>
              <a:t>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2148840"/>
            <a:ext cx="162763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06040" y="2377440"/>
            <a:ext cx="14447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D1B2A"/>
                </a:solidFill>
                <a:latin typeface="Segoe UI"/>
              </a:rPr>
              <a:t>History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instant reuse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51376" y="2468880"/>
            <a:ext cx="20116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D9488"/>
                </a:solidFill>
                <a:latin typeface="Segoe U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48840"/>
            <a:ext cx="162763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377440"/>
            <a:ext cx="14447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D1B2A"/>
                </a:solidFill>
                <a:latin typeface="Segoe UI"/>
              </a:rPr>
              <a:t>Search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offline 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0176" y="2468880"/>
            <a:ext cx="20116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D9488"/>
                </a:solidFill>
                <a:latin typeface="Segoe U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48840"/>
            <a:ext cx="162763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377440"/>
            <a:ext cx="14447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D1B2A"/>
                </a:solidFill>
                <a:latin typeface="Segoe UI"/>
              </a:rPr>
              <a:t>Scrape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threads, comments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8975" y="2468880"/>
            <a:ext cx="20116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D9488"/>
                </a:solidFill>
                <a:latin typeface="Segoe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148840"/>
            <a:ext cx="162763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2377440"/>
            <a:ext cx="14447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D1B2A"/>
                </a:solidFill>
                <a:latin typeface="Segoe UI"/>
              </a:rPr>
              <a:t>Synthesise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cited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37776" y="2468880"/>
            <a:ext cx="20116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D9488"/>
                </a:solidFill>
                <a:latin typeface="Segoe U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2148840"/>
            <a:ext cx="1627632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2377440"/>
            <a:ext cx="14447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D1B2A"/>
                </a:solidFill>
                <a:latin typeface="Segoe UI"/>
              </a:rPr>
              <a:t>Remember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map, history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94760"/>
            <a:ext cx="10817352" cy="731520"/>
          </a:xfrm>
          <a:prstGeom prst="round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950208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Segoe UI"/>
              </a:rPr>
              <a:t>security_check() runs </a:t>
            </a:r>
            <a:r>
              <a:rPr sz="1500" b="1">
                <a:solidFill>
                  <a:srgbClr val="FFFFFF"/>
                </a:solidFill>
                <a:latin typeface="Segoe UI"/>
              </a:rPr>
              <a:t>before every tool</a:t>
            </a:r>
            <a:r>
              <a:rPr sz="1500" b="0">
                <a:solidFill>
                  <a:srgbClr val="FFFFFF"/>
                </a:solidFill>
                <a:latin typeface="Segoe UI"/>
              </a:rPr>
              <a:t>, and every rejection is logged to rejection_log.jsonl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754880"/>
            <a:ext cx="10817352" cy="777240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754880"/>
            <a:ext cx="64008" cy="7772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919472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75569"/>
                </a:solidFill>
                <a:latin typeface="Segoe UI"/>
              </a:rPr>
              <a:t>Known faults short-circuit at History: instant, no LLM, no network. Only new faults reach scrape and synthesis.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6327648"/>
            <a:ext cx="1081735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640080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RootIQ, </a:t>
            </a:r>
            <a:r>
              <a:rPr sz="1000" b="1">
                <a:solidFill>
                  <a:srgbClr val="0D9488"/>
                </a:solidFill>
                <a:latin typeface="Segoe UI"/>
              </a:rPr>
              <a:t>PLC Error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6400800"/>
            <a:ext cx="4187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rootiq.streamlit.app    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THREE WAYS 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1B2A"/>
                </a:solidFill>
                <a:latin typeface="Segoe UI"/>
              </a:rPr>
              <a:t>Upload a log, type a code, or batch a whole CSV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9224" y="1883664"/>
            <a:ext cx="6425825" cy="4096512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_b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20240"/>
            <a:ext cx="6352673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2057400"/>
            <a:ext cx="3749039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0D9488"/>
                </a:solidFill>
                <a:latin typeface="Segoe UI"/>
              </a:rPr>
              <a:t>▪  </a:t>
            </a:r>
            <a:r>
              <a:rPr sz="1500">
                <a:solidFill>
                  <a:srgbClr val="1F2937"/>
                </a:solidFill>
                <a:latin typeface="Segoe UI"/>
              </a:rPr>
              <a:t>A real IQAN system log, semicolon-delimited with a BOM, parsed cleanly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0D9488"/>
                </a:solidFill>
                <a:latin typeface="Segoe UI"/>
              </a:rPr>
              <a:t>▪  </a:t>
            </a:r>
            <a:r>
              <a:rPr sz="1500">
                <a:solidFill>
                  <a:srgbClr val="1F2937"/>
                </a:solidFill>
                <a:latin typeface="Segoe UI"/>
              </a:rPr>
              <a:t>De-duplicated to nine unique faults across the log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0D9488"/>
                </a:solidFill>
                <a:latin typeface="Segoe UI"/>
              </a:rPr>
              <a:t>▪  </a:t>
            </a:r>
            <a:r>
              <a:rPr sz="1500">
                <a:solidFill>
                  <a:srgbClr val="1F2937"/>
                </a:solidFill>
                <a:latin typeface="Segoe UI"/>
              </a:rPr>
              <a:t>One click: known faults instant, new ones scraped and reasoned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4937760"/>
            <a:ext cx="3730752" cy="914400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4937760"/>
            <a:ext cx="54864" cy="9144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73568" y="5074920"/>
            <a:ext cx="3429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75569"/>
                </a:solidFill>
                <a:latin typeface="Segoe UI"/>
              </a:rPr>
              <a:t>Routine entries such as System started are filtered out automatically.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27648"/>
            <a:ext cx="1081735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0080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RootIQ, </a:t>
            </a:r>
            <a:r>
              <a:rPr sz="1000" b="1">
                <a:solidFill>
                  <a:srgbClr val="0D9488"/>
                </a:solidFill>
                <a:latin typeface="Segoe UI"/>
              </a:rPr>
              <a:t>PLC Error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400800"/>
            <a:ext cx="4187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rootiq.streamlit.app    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A CITED ANSWER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1B2A"/>
                </a:solidFill>
                <a:latin typeface="Segoe UI"/>
              </a:rPr>
              <a:t>Reasoned across multiple threads, never a single page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920240"/>
            <a:ext cx="576072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920240"/>
            <a:ext cx="5760720" cy="8229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48840"/>
            <a:ext cx="5212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D1B2A"/>
                </a:solidFill>
                <a:latin typeface="Segoe UI"/>
              </a:rPr>
              <a:t>XC44, No contact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2194560"/>
            <a:ext cx="1325880" cy="384048"/>
          </a:xfrm>
          <a:prstGeom prst="round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83480" y="2249424"/>
            <a:ext cx="13258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6534"/>
                </a:solidFill>
                <a:latin typeface="Segoe UI"/>
              </a:rPr>
              <a:t>High 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5303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F2937"/>
                </a:solidFill>
                <a:latin typeface="Segoe UI"/>
              </a:rPr>
              <a:t>Root cause: </a:t>
            </a:r>
            <a:r>
              <a:rPr sz="1400" b="0">
                <a:solidFill>
                  <a:srgbClr val="1F2937"/>
                </a:solidFill>
                <a:latin typeface="Segoe UI"/>
              </a:rPr>
              <a:t>the expansion module lost CAN communication, usually termination or wiring [1].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1.  Verify 120 ohm termination at both ends [1]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2.  Inspect CAN_H and CAN_L for opens or shorts [1][2]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Sources: No contact and critical CAN error, CAN bus-off termination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148840"/>
            <a:ext cx="47548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D9488"/>
                </a:solidFill>
                <a:latin typeface="Segoe UI"/>
              </a:rPr>
              <a:t>▪  </a:t>
            </a:r>
            <a:r>
              <a:rPr sz="1600">
                <a:solidFill>
                  <a:srgbClr val="1F2937"/>
                </a:solidFill>
                <a:latin typeface="Segoe UI"/>
              </a:rPr>
              <a:t>Inline citations [1][2] on every step, plus all source links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D9488"/>
                </a:solidFill>
                <a:latin typeface="Segoe UI"/>
              </a:rPr>
              <a:t>▪  </a:t>
            </a:r>
            <a:r>
              <a:rPr sz="1600">
                <a:solidFill>
                  <a:srgbClr val="1F2937"/>
                </a:solidFill>
                <a:latin typeface="Segoe UI"/>
              </a:rPr>
              <a:t>Weighs higher-voted, answered community comments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D9488"/>
                </a:solidFill>
                <a:latin typeface="Segoe UI"/>
              </a:rPr>
              <a:t>▪  </a:t>
            </a:r>
            <a:r>
              <a:rPr sz="1600">
                <a:solidFill>
                  <a:srgbClr val="1F2937"/>
                </a:solidFill>
                <a:latin typeface="Segoe UI"/>
              </a:rPr>
              <a:t>Output is parsed only as JSON. The model is never wired to a file or command tool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6327648"/>
            <a:ext cx="1081735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0080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RootIQ, </a:t>
            </a:r>
            <a:r>
              <a:rPr sz="1000" b="1">
                <a:solidFill>
                  <a:srgbClr val="0D9488"/>
                </a:solidFill>
                <a:latin typeface="Segoe UI"/>
              </a:rPr>
              <a:t>PLC Error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6400800"/>
            <a:ext cx="4187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rootiq.streamlit.app    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THE KNOWLEDGE MAP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1B2A"/>
                </a:solidFill>
                <a:latin typeface="Segoe UI"/>
              </a:rPr>
              <a:t>Related faults connect through shared forum threads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194560"/>
            <a:ext cx="36576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D9488"/>
                </a:solidFill>
                <a:latin typeface="Segoe UI"/>
              </a:rPr>
              <a:t>▪  </a:t>
            </a:r>
            <a:r>
              <a:rPr sz="1600">
                <a:solidFill>
                  <a:srgbClr val="1F2937"/>
                </a:solidFill>
                <a:latin typeface="Segoe UI"/>
              </a:rPr>
              <a:t>Each unique error is one node, sized by occurrence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D9488"/>
                </a:solidFill>
                <a:latin typeface="Segoe UI"/>
              </a:rPr>
              <a:t>▪  </a:t>
            </a:r>
            <a:r>
              <a:rPr sz="1600">
                <a:solidFill>
                  <a:srgbClr val="1F2937"/>
                </a:solidFill>
                <a:latin typeface="Segoe UI"/>
              </a:rPr>
              <a:t>Linked to its fix and the forum threads it cited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D9488"/>
                </a:solidFill>
                <a:latin typeface="Segoe UI"/>
              </a:rPr>
              <a:t>▪  </a:t>
            </a:r>
            <a:r>
              <a:rPr sz="1600">
                <a:solidFill>
                  <a:srgbClr val="1F2937"/>
                </a:solidFill>
                <a:latin typeface="Segoe UI"/>
              </a:rPr>
              <a:t>Shared threads converge, so related faults visibly connect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35424" y="1883664"/>
            <a:ext cx="6570204" cy="4187952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20240"/>
            <a:ext cx="6497052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800" y="6327648"/>
            <a:ext cx="1081735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0080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RootIQ, </a:t>
            </a:r>
            <a:r>
              <a:rPr sz="1000" b="1">
                <a:solidFill>
                  <a:srgbClr val="0D9488"/>
                </a:solidFill>
                <a:latin typeface="Segoe UI"/>
              </a:rPr>
              <a:t>PLC Error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6400800"/>
            <a:ext cx="4187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rootiq.streamlit.app    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THE HARNESS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1B2A"/>
                </a:solidFill>
                <a:latin typeface="Segoe UI"/>
              </a:rPr>
              <a:t>Sandboxed tools, drop-in skills, editable config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965960"/>
            <a:ext cx="350215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2203704"/>
            <a:ext cx="299008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0D1B2A"/>
                </a:solidFill>
                <a:latin typeface="Segoe UI"/>
              </a:rPr>
              <a:t>Sandboxed tools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read, write, create, list, transform_markdown (md to HTML), and run_command. Every path passes through _safe_path().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52544" y="1965960"/>
            <a:ext cx="350215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08576" y="2203704"/>
            <a:ext cx="299008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0D1B2A"/>
                </a:solidFill>
                <a:latin typeface="Segoe UI"/>
              </a:rPr>
              <a:t>Drop-in skills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Any skills/*.py with a SKILL dict is auto-discovered. Add one and it appears, with no harness edit.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9288" y="1965960"/>
            <a:ext cx="3502152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19" y="2203704"/>
            <a:ext cx="299008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0D1B2A"/>
                </a:solidFill>
                <a:latin typeface="Segoe UI"/>
              </a:rPr>
              <a:t>Editable config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Segoe UI"/>
              </a:rPr>
              <a:t>mcp.json sets the LLM provider, forums, and scraping limits, with no code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617720"/>
            <a:ext cx="10817352" cy="868680"/>
          </a:xfrm>
          <a:prstGeom prst="round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4617720"/>
            <a:ext cx="64008" cy="8686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800600"/>
            <a:ext cx="10241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75569"/>
                </a:solidFill>
                <a:latin typeface="Segoe UI"/>
              </a:rPr>
              <a:t>The loaded extension is extract_log (problem log to text and codes), alongside lookup_history, save_solution, phase1_crawl, and phase2_scrape.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327648"/>
            <a:ext cx="1081735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40080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RootIQ, </a:t>
            </a:r>
            <a:r>
              <a:rPr sz="1000" b="1">
                <a:solidFill>
                  <a:srgbClr val="0D9488"/>
                </a:solidFill>
                <a:latin typeface="Segoe UI"/>
              </a:rPr>
              <a:t>PLC Error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6400800"/>
            <a:ext cx="4187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rootiq.streamlit.app    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SECURITY, DEFENSE IN DEPTH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1B2A"/>
                </a:solidFill>
                <a:latin typeface="Segoe UI"/>
              </a:rPr>
              <a:t>A wide attack surface, guarded in four layers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920240"/>
            <a:ext cx="5294376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29968"/>
            <a:ext cx="548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D9488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2066544"/>
            <a:ext cx="42976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D1B2A"/>
                </a:solidFill>
                <a:latin typeface="Segoe UI"/>
              </a:rPr>
              <a:t>security_check(tool, args)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Pattern and command screen before every tool 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8776" y="1920240"/>
            <a:ext cx="5294376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37376" y="2029968"/>
            <a:ext cx="548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D9488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77456" y="2066544"/>
            <a:ext cx="42976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D1B2A"/>
                </a:solidFill>
                <a:latin typeface="Segoe UI"/>
              </a:rPr>
              <a:t>_safe_path()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Authoritative sandbox using resolve() and is_relative_to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017520"/>
            <a:ext cx="5294376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548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D9488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163824"/>
            <a:ext cx="42976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D1B2A"/>
                </a:solidFill>
                <a:latin typeface="Segoe UI"/>
              </a:rPr>
              <a:t>check_url()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Scheme check and domain allowlist before any HTTP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3017520"/>
            <a:ext cx="5294376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3127248"/>
            <a:ext cx="548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D9488"/>
                </a:solidFill>
                <a:latin typeface="Segoe U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77456" y="3163824"/>
            <a:ext cx="42976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D1B2A"/>
                </a:solidFill>
                <a:latin typeface="Segoe UI"/>
              </a:rPr>
              <a:t>rejection_log.jsonl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Every block recorded and shown in Settings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251960"/>
            <a:ext cx="10817352" cy="123444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480560"/>
            <a:ext cx="10241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security_check("run_command", {"command":"rm -rf /"})   </a:t>
            </a:r>
            <a:r>
              <a:rPr sz="1300" b="0">
                <a:solidFill>
                  <a:srgbClr val="94A3B8"/>
                </a:solidFill>
                <a:latin typeface="Segoe UI"/>
              </a:rPr>
              <a:t>returns (False, 'Blocked command: rm')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2E8F0"/>
                </a:solidFill>
                <a:latin typeface="Segoe UI"/>
              </a:rPr>
              <a:t>_safe_path("../../etc/passwd")   </a:t>
            </a:r>
            <a:r>
              <a:rPr sz="1300" b="0">
                <a:solidFill>
                  <a:srgbClr val="94A3B8"/>
                </a:solidFill>
                <a:latin typeface="Segoe UI"/>
              </a:rPr>
              <a:t>raises SandboxError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327648"/>
            <a:ext cx="1081735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40080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RootIQ, </a:t>
            </a:r>
            <a:r>
              <a:rPr sz="1000" b="1">
                <a:solidFill>
                  <a:srgbClr val="0D9488"/>
                </a:solidFill>
                <a:latin typeface="Segoe UI"/>
              </a:rPr>
              <a:t>PLC Error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6400800"/>
            <a:ext cx="4187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rootiq.streamlit.app    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SECURITY, PER-TOOL VERDICTS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1B2A"/>
                </a:solidFill>
                <a:latin typeface="Segoe UI"/>
              </a:rPr>
              <a:t>Each risk is blocked, mitigated, or honestly accepted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874519"/>
          <a:ext cx="10817352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394960"/>
                <a:gridCol w="2496312"/>
              </a:tblGrid>
              <a:tr h="42291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Tool or surface</a:t>
                      </a:r>
                    </a:p>
                  </a:txBody>
                  <a:tcPr marL="109728" marT="36576" marB="36576"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Risk</a:t>
                      </a:r>
                    </a:p>
                  </a:txBody>
                  <a:tcPr marL="109728" marT="36576" marB="36576"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Verdict</a:t>
                      </a:r>
                    </a:p>
                  </a:txBody>
                  <a:tcPr marL="109728" marT="36576" marB="36576" anchor="ctr">
                    <a:solidFill>
                      <a:srgbClr val="0D1B2A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File operations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Segoe UI"/>
                        </a:rPr>
                        <a:t>path traversal out of the sandbox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6534"/>
                          </a:solidFill>
                          <a:latin typeface="Segoe UI"/>
                        </a:rPr>
                        <a:t>Blocked</a:t>
                      </a:r>
                    </a:p>
                  </a:txBody>
                  <a:tcPr marL="109728" marT="36576" marB="36576" anchor="ctr">
                    <a:solidFill>
                      <a:srgbClr val="DCFCE7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run_command</a:t>
                      </a:r>
                    </a:p>
                  </a:txBody>
                  <a:tcPr marL="109728" marT="36576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Segoe UI"/>
                        </a:rPr>
                        <a:t>shell injection from tool output</a:t>
                      </a:r>
                    </a:p>
                  </a:txBody>
                  <a:tcPr marL="109728" marT="36576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6534"/>
                          </a:solidFill>
                          <a:latin typeface="Segoe UI"/>
                        </a:rPr>
                        <a:t>Mitigated</a:t>
                      </a:r>
                    </a:p>
                  </a:txBody>
                  <a:tcPr marL="109728" marT="36576" marB="36576" anchor="ctr">
                    <a:solidFill>
                      <a:srgbClr val="DCFCE7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transform_markdown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Segoe UI"/>
                        </a:rPr>
                        <a:t>HTML or script injection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6534"/>
                          </a:solidFill>
                          <a:latin typeface="Segoe UI"/>
                        </a:rPr>
                        <a:t>Mitigated</a:t>
                      </a:r>
                    </a:p>
                  </a:txBody>
                  <a:tcPr marL="109728" marT="36576" marB="36576" anchor="ctr">
                    <a:solidFill>
                      <a:srgbClr val="DCFCE7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Outbound HTTP</a:t>
                      </a:r>
                    </a:p>
                  </a:txBody>
                  <a:tcPr marL="109728" marT="36576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Segoe UI"/>
                        </a:rPr>
                        <a:t>SSRF and scraping abuse</a:t>
                      </a:r>
                    </a:p>
                  </a:txBody>
                  <a:tcPr marL="109728" marT="36576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6534"/>
                          </a:solidFill>
                          <a:latin typeface="Segoe UI"/>
                        </a:rPr>
                        <a:t>Mitigated</a:t>
                      </a:r>
                    </a:p>
                  </a:txBody>
                  <a:tcPr marL="109728" marT="36576" marB="36576" anchor="ctr">
                    <a:solidFill>
                      <a:srgbClr val="DCFCE7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Prompt injection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Segoe UI"/>
                        </a:rPr>
                        <a:t>scraped or file text as instructions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6534"/>
                          </a:solidFill>
                          <a:latin typeface="Segoe UI"/>
                        </a:rPr>
                        <a:t>By design</a:t>
                      </a:r>
                    </a:p>
                  </a:txBody>
                  <a:tcPr marL="109728" marT="36576" marB="36576" anchor="ctr">
                    <a:solidFill>
                      <a:srgbClr val="DCFCE7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Secrets</a:t>
                      </a:r>
                    </a:p>
                  </a:txBody>
                  <a:tcPr marL="109728" marT="36576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Segoe UI"/>
                        </a:rPr>
                        <a:t>API key leakage</a:t>
                      </a:r>
                    </a:p>
                  </a:txBody>
                  <a:tcPr marL="109728" marT="36576" marB="36576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66534"/>
                          </a:solidFill>
                          <a:latin typeface="Segoe UI"/>
                        </a:rPr>
                        <a:t>Mitigated</a:t>
                      </a:r>
                    </a:p>
                  </a:txBody>
                  <a:tcPr marL="109728" marT="36576" marB="36576" anchor="ctr">
                    <a:solidFill>
                      <a:srgbClr val="DCFCE7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Skills folder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Segoe UI"/>
                        </a:rPr>
                        <a:t>arbitrary code at import time</a:t>
                      </a:r>
                    </a:p>
                  </a:txBody>
                  <a:tcPr marL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92400E"/>
                          </a:solidFill>
                          <a:latin typeface="Segoe UI"/>
                        </a:rPr>
                        <a:t>Accepted</a:t>
                      </a:r>
                    </a:p>
                  </a:txBody>
                  <a:tcPr marL="109728" marT="36576" marB="36576" anchor="ctr"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64748B"/>
                </a:solidFill>
                <a:latin typeface="Segoe UI"/>
              </a:rPr>
              <a:t>Honest acceptance of a risk that is understood, rather than pretending it is not there.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327648"/>
            <a:ext cx="1081735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RootIQ, </a:t>
            </a:r>
            <a:r>
              <a:rPr sz="1000" b="1">
                <a:solidFill>
                  <a:srgbClr val="0D9488"/>
                </a:solidFill>
                <a:latin typeface="Segoe UI"/>
              </a:rPr>
              <a:t>PLC Error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6400800"/>
            <a:ext cx="4187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rootiq.streamlit.app    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HOW IT MAPS TO THE ASSIGNMENT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1B2A"/>
                </a:solidFill>
                <a:latin typeface="Segoe UI"/>
              </a:rPr>
              <a:t>All four deliverables are in the repository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920240"/>
            <a:ext cx="5294376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1832" y="210312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D9488"/>
                </a:solidFill>
                <a:latin typeface="Segoe UI"/>
              </a:rPr>
              <a:t>✓  </a:t>
            </a:r>
            <a:r>
              <a:rPr sz="1700" b="1">
                <a:solidFill>
                  <a:srgbClr val="0D1B2A"/>
                </a:solidFill>
                <a:latin typeface="Segoe UI"/>
              </a:rPr>
              <a:t>The harness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Working code. The app runs headless with zero exceptions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08776" y="1920240"/>
            <a:ext cx="5294376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4808" y="210312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D9488"/>
                </a:solidFill>
                <a:latin typeface="Segoe UI"/>
              </a:rPr>
              <a:t>✓  </a:t>
            </a:r>
            <a:r>
              <a:rPr sz="1700" b="1">
                <a:solidFill>
                  <a:srgbClr val="0D1B2A"/>
                </a:solidFill>
                <a:latin typeface="Segoe UI"/>
              </a:rPr>
              <a:t>A loaded extension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Five drop-in skills, led by extract_log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46120"/>
            <a:ext cx="5294376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342900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D9488"/>
                </a:solidFill>
                <a:latin typeface="Segoe UI"/>
              </a:rPr>
              <a:t>✓  </a:t>
            </a:r>
            <a:r>
              <a:rPr sz="1700" b="1">
                <a:solidFill>
                  <a:srgbClr val="0D1B2A"/>
                </a:solidFill>
                <a:latin typeface="Segoe UI"/>
              </a:rPr>
              <a:t>README and security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Per-tool risks marked blocked, mitigated, or accepted, with diagrams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3246120"/>
            <a:ext cx="5294376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3429000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D9488"/>
                </a:solidFill>
                <a:latin typeface="Segoe UI"/>
              </a:rPr>
              <a:t>✓  </a:t>
            </a:r>
            <a:r>
              <a:rPr sz="1700" b="1">
                <a:solidFill>
                  <a:srgbClr val="0D1B2A"/>
                </a:solidFill>
                <a:latin typeface="Segoe UI"/>
              </a:rPr>
              <a:t>Presentation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This deck, with screenshots from the live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754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D9488"/>
                </a:solidFill>
                <a:latin typeface="Segoe UI"/>
              </a:rPr>
              <a:t>Offline (Ollama)     Safety interlock and log     Evaluation and retry loop     Context caps     Staged multi-agent roles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6327648"/>
            <a:ext cx="1081735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40080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RootIQ, </a:t>
            </a:r>
            <a:r>
              <a:rPr sz="1000" b="1">
                <a:solidFill>
                  <a:srgbClr val="0D9488"/>
                </a:solidFill>
                <a:latin typeface="Segoe UI"/>
              </a:rPr>
              <a:t>PLC Error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6400800"/>
            <a:ext cx="4187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rootiq.streamlit.app    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HONESTY NOTES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1B2A"/>
                </a:solidFill>
                <a:latin typeface="Segoe UI"/>
              </a:rPr>
              <a:t>Stated plainly, because the brief rewards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65960"/>
            <a:ext cx="107899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650" b="1">
                <a:solidFill>
                  <a:srgbClr val="0D9488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mcp.json is config, not a literal MCP server. </a:t>
            </a:r>
            <a:r>
              <a:rPr sz="1650">
                <a:solidFill>
                  <a:srgbClr val="1F2937"/>
                </a:solidFill>
                <a:latin typeface="Segoe UI"/>
              </a:rPr>
              <a:t>The real extension mechanism is the drop-in skills loader.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650" b="1">
                <a:solidFill>
                  <a:srgbClr val="0D9488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Skills are not sandboxed. </a:t>
            </a:r>
            <a:r>
              <a:rPr sz="1650">
                <a:solidFill>
                  <a:srgbClr val="1F2937"/>
                </a:solidFill>
                <a:latin typeface="Segoe UI"/>
              </a:rPr>
              <a:t>They are trusted first-party code; adding one is equivalent to editing the app.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650" b="1">
                <a:solidFill>
                  <a:srgbClr val="0D9488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python is allow-listed for run_command. </a:t>
            </a:r>
            <a:r>
              <a:rPr sz="1650">
                <a:solidFill>
                  <a:srgbClr val="1F2937"/>
                </a:solidFill>
                <a:latin typeface="Segoe UI"/>
              </a:rPr>
              <a:t>It is fully capable, an accepted convenience.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650" b="1">
                <a:solidFill>
                  <a:srgbClr val="0D9488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No robots.txt parsing. </a:t>
            </a:r>
            <a:r>
              <a:rPr sz="1650">
                <a:solidFill>
                  <a:srgbClr val="1F2937"/>
                </a:solidFill>
                <a:latin typeface="Segoe UI"/>
              </a:rPr>
              <a:t>The crawler rate-limits, identifies itself, and reads only public threads.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650" b="1">
                <a:solidFill>
                  <a:srgbClr val="0D9488"/>
                </a:solidFill>
                <a:latin typeface="Segoe UI"/>
              </a:rPr>
              <a:t>▪  </a:t>
            </a:r>
            <a:r>
              <a:rPr sz="1650" b="1">
                <a:solidFill>
                  <a:srgbClr val="1F2937"/>
                </a:solidFill>
                <a:latin typeface="Segoe UI"/>
              </a:rPr>
              <a:t>Hosted history is ephemeral. </a:t>
            </a:r>
            <a:r>
              <a:rPr sz="1650">
                <a:solidFill>
                  <a:srgbClr val="1F2937"/>
                </a:solidFill>
                <a:latin typeface="Segoe UI"/>
              </a:rPr>
              <a:t>Streamlit Cloud resets on reboot; persistence would need a database.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6327648"/>
            <a:ext cx="1081735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0080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RootIQ, </a:t>
            </a:r>
            <a:r>
              <a:rPr sz="1000" b="1">
                <a:solidFill>
                  <a:srgbClr val="0D9488"/>
                </a:solidFill>
                <a:latin typeface="Segoe UI"/>
              </a:rPr>
              <a:t>PLC Error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6400800"/>
            <a:ext cx="4187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rootiq.streamlit.app    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789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Segoe UI"/>
              </a:rPr>
              <a:t>DEPLOYMENT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D1B2A"/>
                </a:solidFill>
                <a:latin typeface="Segoe UI"/>
              </a:rPr>
              <a:t>Runs in two modes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2011680"/>
            <a:ext cx="5303520" cy="201168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24028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# Offline, local, no key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ollama serve  &amp;&amp;  ollama pull phi3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streamlit run app.py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# toggle Online off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2011680"/>
            <a:ext cx="5303520" cy="2011680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3952" y="2240280"/>
            <a:ext cx="48463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# Online, hosted LLM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export OPENAI_API_KEY=sk-...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2E8F0"/>
                </a:solidFill>
                <a:latin typeface="Segoe UI"/>
              </a:rPr>
              <a:t>streamlit run app.py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Segoe UI"/>
              </a:rPr>
              <a:t># toggle Online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9768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The hosted instance runs live at rootiq.streamlit.app, with the API key held in Streamlit secrets.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98348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1F2937"/>
                </a:solidFill>
                <a:latin typeface="Segoe UI"/>
              </a:rPr>
              <a:t>GitHub  </a:t>
            </a:r>
            <a:r>
              <a:rPr sz="1500" b="1">
                <a:solidFill>
                  <a:srgbClr val="5EEAD4"/>
                </a:solidFill>
                <a:latin typeface="Segoe UI"/>
                <a:hlinkClick r:id="rId2"/>
              </a:rPr>
              <a:t>github.com/novoha/rootiq</a:t>
            </a:r>
            <a:r>
              <a:rPr sz="1500" b="1">
                <a:solidFill>
                  <a:srgbClr val="1F2937"/>
                </a:solidFill>
                <a:latin typeface="Segoe UI"/>
              </a:rPr>
              <a:t>      Live app  </a:t>
            </a:r>
            <a:r>
              <a:rPr sz="1500" b="1">
                <a:solidFill>
                  <a:srgbClr val="5EEAD4"/>
                </a:solidFill>
                <a:latin typeface="Segoe UI"/>
                <a:hlinkClick r:id="rId3"/>
              </a:rPr>
              <a:t>rootiq.streamlit.app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27648"/>
            <a:ext cx="1081735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0080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RootIQ, </a:t>
            </a:r>
            <a:r>
              <a:rPr sz="1000" b="1">
                <a:solidFill>
                  <a:srgbClr val="0D9488"/>
                </a:solidFill>
                <a:latin typeface="Segoe UI"/>
              </a:rPr>
              <a:t>PLC Error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400800"/>
            <a:ext cx="4187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3B8"/>
                </a:solidFill>
                <a:latin typeface="Segoe UI"/>
              </a:rPr>
              <a:t>rootiq.streamlit.app    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945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34290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2E8F0"/>
                </a:solidFill>
                <a:latin typeface="Segoe UI"/>
              </a:rPr>
              <a:t>Secure, dual-mode PLC error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4297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Segoe UI"/>
              </a:rPr>
              <a:t>Victor Otu Hayford</a:t>
            </a:r>
            <a:r>
              <a:rPr sz="1900" b="1">
                <a:solidFill>
                  <a:srgbClr val="5EEAD4"/>
                </a:solidFill>
                <a:latin typeface="Segoe UI"/>
              </a:rPr>
              <a:t>, Industrial AI,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493776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Segoe UI"/>
              </a:rPr>
              <a:t>GitHub  </a:t>
            </a:r>
            <a:r>
              <a:rPr sz="1500" b="1">
                <a:solidFill>
                  <a:srgbClr val="5EEAD4"/>
                </a:solidFill>
                <a:latin typeface="Segoe UI"/>
                <a:hlinkClick r:id="rId2"/>
              </a:rPr>
              <a:t>github.com/novoha/rootiq</a:t>
            </a:r>
            <a:r>
              <a:rPr sz="1500" b="1">
                <a:solidFill>
                  <a:srgbClr val="FFFFFF"/>
                </a:solidFill>
                <a:latin typeface="Segoe UI"/>
              </a:rPr>
              <a:t>      Live app  </a:t>
            </a:r>
            <a:r>
              <a:rPr sz="1500" b="1">
                <a:solidFill>
                  <a:srgbClr val="5EEAD4"/>
                </a:solidFill>
                <a:latin typeface="Segoe UI"/>
                <a:hlinkClick r:id="rId3"/>
              </a:rPr>
              <a:t>rootiq.streamlit.app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